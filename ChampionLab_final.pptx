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725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1.png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.png"/><Relationship Id="rId4" Type="http://schemas.openxmlformats.org/officeDocument/2006/relationships/image" Target="../media/image14.png"/><Relationship Id="rId9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10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8.png"/><Relationship Id="rId9" Type="http://schemas.openxmlformats.org/officeDocument/2006/relationships/image" Target="../media/image1.png"/></Relationships>
</file>

<file path=ppt/slides/_rels/slide9.xml.rels><?xml version="1.0" encoding="UTF-8"?>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9.png"/><Relationship Id="rId9" Type="http://schemas.openxmlformats.org/officeDocument/2006/relationships/image" Target="../media/image1.png"/></Relationships>
</file>

<file path=ppt/slides/_rels/slide10.xml.rels><?xml version="1.0" encoding="UTF-8"?>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.png"/><Relationship Id="rId4" Type="http://schemas.openxmlformats.org/officeDocument/2006/relationships/image" Target="../media/image20.png"/><Relationship Id="rId9" Type="http://schemas.openxmlformats.org/officeDocument/2006/relationships/image" Target="../media/image2.png"/></Relationships>
</file>

<file path=ppt/slides/_rels/slide11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.png"/><Relationship Id="rId5" Type="http://schemas.openxmlformats.org/officeDocument/2006/relationships/image" Target="../media/image21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22.png"/></Relationships>
</file>

<file path=ppt/slides/_rels/slide12.xml.rels><?xml version="1.0" encoding="UTF-8"?>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3.png"/><Relationship Id="rId9" Type="http://schemas.openxmlformats.org/officeDocument/2006/relationships/image" Target="../media/image1.png"/></Relationships>
</file>

<file path=ppt/slides/_rels/slide13.xml.rels><?xml version="1.0" encoding="UTF-8"?>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4.png"/><Relationship Id="rId9" Type="http://schemas.openxmlformats.org/officeDocument/2006/relationships/image" Target="../media/image1.png"/></Relationships>
</file>

<file path=ppt/slides/_rels/slide14.xml.rels><?xml version="1.0" encoding="UTF-8"?>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5.png"/><Relationship Id="rId9" Type="http://schemas.openxmlformats.org/officeDocument/2006/relationships/image" Target="../media/image1.png"/></Relationships>
</file>

<file path=ppt/slides/_rels/slide15.xml.rels><?xml version="1.0" encoding="UTF-8"?>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611880"/>
            <a:ext cx="4754880" cy="4754880"/>
          </a:xfrm>
          <a:prstGeom prst="ellipse">
            <a:avLst/>
          </a:prstGeom>
          <a:ln w="15875">
            <a:solidFill>
              <a:srgbClr val="3E4A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160520"/>
            <a:ext cx="3657600" cy="3657600"/>
          </a:xfrm>
          <a:prstGeom prst="ellipse">
            <a:avLst/>
          </a:prstGeom>
          <a:ln w="15875">
            <a:solidFill>
              <a:srgbClr val="3A5E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4709160"/>
            <a:ext cx="2560320" cy="2560320"/>
          </a:xfrm>
          <a:prstGeom prst="ellipse">
            <a:avLst/>
          </a:prstGeom>
          <a:ln w="15875">
            <a:solidFill>
              <a:srgbClr val="4A35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777240"/>
            <a:ext cx="128016" cy="128016"/>
          </a:xfrm>
          <a:prstGeom prst="ellipse">
            <a:avLst/>
          </a:prstGeom>
          <a:solidFill>
            <a:srgbClr val="DE9A6D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051560"/>
            <a:ext cx="73152" cy="73152"/>
          </a:xfrm>
          <a:prstGeom prst="ellipse">
            <a:avLst/>
          </a:prstGeom>
          <a:solidFill>
            <a:srgbClr val="2564B3"/>
          </a:solidFill>
          <a:ln/>
        </p:spPr>
      </p:sp>
      <p:sp>
        <p:nvSpPr>
          <p:cNvPr id="7" name="Shape 5"/>
          <p:cNvSpPr/>
          <p:nvPr/>
        </p:nvSpPr>
        <p:spPr>
          <a:xfrm>
            <a:off x="3839476" y="502920"/>
            <a:ext cx="4512744" cy="7863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52400" dist="25400" dir="5400000" algn="bl" rotWithShape="0">
              <a:srgbClr val="1A1F26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24004" y="623621"/>
            <a:ext cx="0" cy="544982"/>
          </a:xfrm>
          <a:prstGeom prst="line">
            <a:avLst/>
          </a:prstGeom>
          <a:noFill/>
          <a:ln w="12700">
            <a:solidFill>
              <a:srgbClr val="DCDFE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0" y="233172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60" dirty="0">
                <a:solidFill>
                  <a:srgbClr val="DE9A6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LEADERSHIP DEVELOPMENT PROGRAM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0" y="269748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CHAMPION LAB</a:t>
            </a:r>
            <a:endParaRPr lang="en-US" sz="6000" dirty="0"/>
          </a:p>
        </p:txBody>
      </p:sp>
      <p:sp>
        <p:nvSpPr>
          <p:cNvPr id="13" name="Text 9"/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9D3DC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From Team Lead to Performance Leader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4404208" y="443484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2564B3"/>
          </a:solidFill>
          <a:ln/>
        </p:spPr>
      </p:sp>
      <p:sp>
        <p:nvSpPr>
          <p:cNvPr id="15" name="Text 11"/>
          <p:cNvSpPr/>
          <p:nvPr/>
        </p:nvSpPr>
        <p:spPr>
          <a:xfrm>
            <a:off x="4404208" y="44348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 90-DAY TRANSFORMATION JOURNEY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Newly Promoted Team Leads &amp; Managers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FB8E869-D2EE-EF20-7CFB-0A45DFF5A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155" y="747498"/>
            <a:ext cx="1037097" cy="3299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B80D614-EE5A-F493-2270-22276C88B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9343" y="678449"/>
            <a:ext cx="2334559" cy="4680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PROGRAM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1384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Champion Lab is designed as a 90-day leadership transformation journey that helps newly promoted Team Leads and Managers transition from managing tasks to leading people and performance.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57200" y="1627632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7078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JOURNEY FOLLOWS THREE PROGRESSIVE PHASES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51560" y="2331720"/>
            <a:ext cx="10088575" cy="0"/>
          </a:xfrm>
          <a:prstGeom prst="line">
            <a:avLst/>
          </a:prstGeom>
          <a:noFill/>
          <a:ln w="19050">
            <a:solidFill>
              <a:srgbClr val="DCDFE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836877" y="1938528"/>
            <a:ext cx="786384" cy="786384"/>
          </a:xfrm>
          <a:prstGeom prst="ellipse">
            <a:avLst/>
          </a:prstGeom>
          <a:solidFill>
            <a:srgbClr val="2564B3"/>
          </a:solidFill>
          <a:ln w="38100">
            <a:solidFill>
              <a:srgbClr val="FFFFFF"/>
            </a:solidFill>
            <a:prstDash val="solid"/>
          </a:ln>
          <a:effectLst>
            <a:outerShdw blurRad="114300" dist="25400" dir="5400000" algn="bl" rotWithShape="0">
              <a:srgbClr val="1A1F26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36877" y="193852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3545738" cy="3246120"/>
          </a:xfrm>
          <a:prstGeom prst="roundRect">
            <a:avLst>
              <a:gd name="adj" fmla="val 2535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86207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564B3"/>
            </a:solidFill>
            <a:prstDash val="solid"/>
          </a:ln>
        </p:spPr>
      </p:sp>
      <p:pic>
        <p:nvPicPr>
          <p:cNvPr id="10" name="Image 0" descr="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71800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16736" y="2862072"/>
            <a:ext cx="2430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PHASE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316736" y="3063240"/>
            <a:ext cx="2430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See Clearly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13232" y="348386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34838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Weeks 1–4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3232" y="3977640"/>
            <a:ext cx="303367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Participants learn to diagnose performance challenges, understand employee behaviour, and apply coaching and feedback techniques to improve performance.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702656" y="1938528"/>
            <a:ext cx="786384" cy="786384"/>
          </a:xfrm>
          <a:prstGeom prst="ellipse">
            <a:avLst/>
          </a:prstGeom>
          <a:solidFill>
            <a:srgbClr val="AF5E27"/>
          </a:solidFill>
          <a:ln w="38100">
            <a:solidFill>
              <a:srgbClr val="FFFFFF"/>
            </a:solidFill>
            <a:prstDash val="solid"/>
          </a:ln>
          <a:effectLst>
            <a:outerShdw blurRad="114300" dist="25400" dir="5400000" algn="bl" rotWithShape="0">
              <a:srgbClr val="1A1F26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02656" y="193852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4322978" y="2606040"/>
            <a:ext cx="3545738" cy="3246120"/>
          </a:xfrm>
          <a:prstGeom prst="roundRect">
            <a:avLst>
              <a:gd name="adj" fmla="val 2535"/>
            </a:avLst>
          </a:prstGeom>
          <a:solidFill>
            <a:srgbClr val="F8F2ED"/>
          </a:solidFill>
          <a:ln w="9525">
            <a:solidFill>
              <a:srgbClr val="F8F2ED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9010" y="286207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F5E27"/>
            </a:solidFill>
            <a:prstDash val="solid"/>
          </a:ln>
        </p:spPr>
      </p:sp>
      <p:pic>
        <p:nvPicPr>
          <p:cNvPr id="20" name="Image 1" descr="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8738" y="2971800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82514" y="2862072"/>
            <a:ext cx="2430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PHASE 2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182514" y="3063240"/>
            <a:ext cx="2430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Solve Systemically</a:t>
            </a:r>
            <a:endParaRPr lang="en-US" sz="1550" dirty="0"/>
          </a:p>
        </p:txBody>
      </p:sp>
      <p:sp>
        <p:nvSpPr>
          <p:cNvPr id="23" name="Shape 19"/>
          <p:cNvSpPr/>
          <p:nvPr/>
        </p:nvSpPr>
        <p:spPr>
          <a:xfrm>
            <a:off x="4579010" y="348386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4579010" y="34838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Weeks 5–8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579010" y="3977640"/>
            <a:ext cx="303367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Participants develop the ability to analyze team performance, identify root causes, improve productivity, and build systems that prevent recurring issues.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9568434" y="1938528"/>
            <a:ext cx="786384" cy="786384"/>
          </a:xfrm>
          <a:prstGeom prst="ellipse">
            <a:avLst/>
          </a:prstGeom>
          <a:solidFill>
            <a:srgbClr val="5C2C06"/>
          </a:solidFill>
          <a:ln w="38100">
            <a:solidFill>
              <a:srgbClr val="FFFFFF"/>
            </a:solidFill>
            <a:prstDash val="solid"/>
          </a:ln>
          <a:effectLst>
            <a:outerShdw blurRad="114300" dist="25400" dir="5400000" algn="bl" rotWithShape="0">
              <a:srgbClr val="1A1F26">
                <a:alpha val="18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9568434" y="193852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3</a:t>
            </a:r>
            <a:endParaRPr lang="en-US" sz="2600" dirty="0"/>
          </a:p>
        </p:txBody>
      </p:sp>
      <p:sp>
        <p:nvSpPr>
          <p:cNvPr id="28" name="Shape 24"/>
          <p:cNvSpPr/>
          <p:nvPr/>
        </p:nvSpPr>
        <p:spPr>
          <a:xfrm>
            <a:off x="8188757" y="2606040"/>
            <a:ext cx="3545738" cy="3246120"/>
          </a:xfrm>
          <a:prstGeom prst="roundRect">
            <a:avLst>
              <a:gd name="adj" fmla="val 2535"/>
            </a:avLst>
          </a:prstGeom>
          <a:solidFill>
            <a:srgbClr val="F1EEEB"/>
          </a:solidFill>
          <a:ln w="9525">
            <a:solidFill>
              <a:srgbClr val="F1EEEB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44789" y="286207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2C06"/>
            </a:solidFill>
            <a:prstDash val="solid"/>
          </a:ln>
        </p:spPr>
      </p:sp>
      <p:pic>
        <p:nvPicPr>
          <p:cNvPr id="30" name="Image 2" descr="icons/comp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517" y="2971800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048293" y="2862072"/>
            <a:ext cx="2430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PHASE 3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9048293" y="3063240"/>
            <a:ext cx="2430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Lead Consistently</a:t>
            </a:r>
            <a:endParaRPr lang="en-US" sz="1550" dirty="0"/>
          </a:p>
        </p:txBody>
      </p:sp>
      <p:sp>
        <p:nvSpPr>
          <p:cNvPr id="33" name="Shape 28"/>
          <p:cNvSpPr/>
          <p:nvPr/>
        </p:nvSpPr>
        <p:spPr>
          <a:xfrm>
            <a:off x="8444789" y="348386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29"/>
          <p:cNvSpPr/>
          <p:nvPr/>
        </p:nvSpPr>
        <p:spPr>
          <a:xfrm>
            <a:off x="8444789" y="34838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Weeks 9–12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8444789" y="3977640"/>
            <a:ext cx="303367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Participants learn to build ownership, accountability, communication rhythms, and sustainable management practices that drive long-term team success.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5547208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 / 15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6C7AD73-6797-E877-4B4C-C2ECFB46AD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914" y="6393520"/>
            <a:ext cx="1382963" cy="27728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AF5D294-25BD-AE75-BF7E-8BBB0D3F83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2355" y="6393520"/>
            <a:ext cx="782140" cy="2488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512064"/>
          </a:xfrm>
          <a:prstGeom prst="roundRect">
            <a:avLst>
              <a:gd name="adj" fmla="val 16071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85216" y="530352"/>
            <a:ext cx="365760" cy="365760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4" name="Image 0" descr="icons/user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0936"/>
            <a:ext cx="164592" cy="1645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457200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564B3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 xml:space="preserve">MONTH 1   </a:t>
            </a:r>
            <a:r>
              <a:rPr lang="en-US" sz="13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DIAGNOSE &amp; DEVELOP PEOPLE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115568"/>
            <a:ext cx="768096" cy="768096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7" name="Image 1" descr="icons/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335024"/>
            <a:ext cx="329184" cy="3291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115568"/>
            <a:ext cx="768096" cy="768096"/>
          </a:xfrm>
          <a:prstGeom prst="ellipse">
            <a:avLst/>
          </a:prstGeom>
          <a:solidFill>
            <a:srgbClr val="2564B3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111556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W1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426464" y="1115568"/>
            <a:ext cx="10308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WEEK 1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426464" y="1325880"/>
            <a:ext cx="10308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PERFORMANCE DETECTIVE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426464" y="1645920"/>
            <a:ext cx="10308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0788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Why are some coders performing differently?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2048256"/>
            <a:ext cx="5538064" cy="2020824"/>
          </a:xfrm>
          <a:prstGeom prst="roundRect">
            <a:avLst>
              <a:gd name="adj" fmla="val 4072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2249424"/>
            <a:ext cx="365760" cy="365760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15" name="Image 2" descr="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2336292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52144" y="2231136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HANDS-ON ACTIVITY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58368" y="2724912"/>
            <a:ext cx="513572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Draft Team Challenge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table receives 12 employee profiles — Productivity, Accuracy, Attendance, Escalations, Experience.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Teams can hire only 5; after selection, hidden information is revealed.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Many “good performers” suddenly become poor choices.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196432" y="2048256"/>
            <a:ext cx="5538064" cy="2020824"/>
          </a:xfrm>
          <a:prstGeom prst="roundRect">
            <a:avLst>
              <a:gd name="adj" fmla="val 4072"/>
            </a:avLst>
          </a:prstGeom>
          <a:solidFill>
            <a:srgbClr val="F1EEEB"/>
          </a:solidFill>
          <a:ln w="9525">
            <a:solidFill>
              <a:srgbClr val="F1EEEB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97600" y="2249424"/>
            <a:ext cx="365760" cy="365760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20" name="Image 3" descr="icons/light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4468" y="2336292"/>
            <a:ext cx="192024" cy="1920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91376" y="2231136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LEARNING MOMENT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397600" y="2724912"/>
            <a:ext cx="513572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31384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Managers discover how often they judge performance using incomplete information.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57200" y="4270248"/>
            <a:ext cx="5538064" cy="2020824"/>
          </a:xfrm>
          <a:prstGeom prst="roundRect">
            <a:avLst>
              <a:gd name="adj" fmla="val 4072"/>
            </a:avLst>
          </a:prstGeom>
          <a:solidFill>
            <a:srgbClr val="EEEFEF"/>
          </a:solidFill>
          <a:ln w="9525">
            <a:solidFill>
              <a:srgbClr val="EEEFEF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8368" y="4471416"/>
            <a:ext cx="365760" cy="365760"/>
          </a:xfrm>
          <a:prstGeom prst="ellipse">
            <a:avLst/>
          </a:prstGeom>
          <a:solidFill>
            <a:srgbClr val="313840"/>
          </a:solidFill>
          <a:ln/>
        </p:spPr>
      </p:sp>
      <p:pic>
        <p:nvPicPr>
          <p:cNvPr id="25" name="Image 4" descr="icons/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" y="4558284"/>
            <a:ext cx="192024" cy="1920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52144" y="445312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58368" y="4892040"/>
            <a:ext cx="513572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13840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Performance = Skill × Will × Clarity × Support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6196432" y="4270248"/>
            <a:ext cx="5538064" cy="2020824"/>
          </a:xfrm>
          <a:prstGeom prst="roundRect">
            <a:avLst>
              <a:gd name="adj" fmla="val 4072"/>
            </a:avLst>
          </a:prstGeom>
          <a:solidFill>
            <a:srgbClr val="F8F2ED"/>
          </a:solidFill>
          <a:ln w="9525">
            <a:solidFill>
              <a:srgbClr val="F8F2ED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397600" y="4471416"/>
            <a:ext cx="365760" cy="365760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30" name="Image 5" descr="icons/clipboard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4468" y="455828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91376" y="445312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WORKPLACE ASSIGNMENT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6397600" y="4946904"/>
            <a:ext cx="513572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Diagnose one average performer.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Diagnose one struggling performer.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5547208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15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5AF9B4-4918-B4EE-71BB-E0F7C0F792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914" y="6436120"/>
            <a:ext cx="1382963" cy="27728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4724962-2774-29AF-BB33-9050D56AEE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2355" y="6436120"/>
            <a:ext cx="782140" cy="2488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3" name="Image 0" descr="icons/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76656"/>
            <a:ext cx="329184" cy="329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2564B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W2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26464" y="457200"/>
            <a:ext cx="10308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WEEK 2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426464" y="667512"/>
            <a:ext cx="10308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FEEDBACK FORENSICS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426464" y="987552"/>
            <a:ext cx="10308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0788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Why doesn’t feedback change behaviour?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389888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1591056"/>
            <a:ext cx="365760" cy="365760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11" name="Image 1" descr="icons/commentDo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1677924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2144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HANDS-ON ACTIVITY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58368" y="2066544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Feedback Murder Mystery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Managers receive actual feedback examples: “Improve quality,” “Take ownership,” “Be more careful.”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Teams investigate: “What exactly should the employee do differently?”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Answer: nobody knows.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96432" y="1389888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F1EEEB"/>
          </a:solidFill>
          <a:ln w="9525">
            <a:solidFill>
              <a:srgbClr val="F1EEEB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97600" y="1591056"/>
            <a:ext cx="365760" cy="365760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16" name="Image 2" descr="icons/light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468" y="1677924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91376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LEARNING MOMENT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97600" y="2066544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31384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Vague feedback creates confusion, not improvement.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941064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EEEFEF"/>
          </a:solidFill>
          <a:ln w="9525">
            <a:solidFill>
              <a:srgbClr val="EEEFEF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4142232"/>
            <a:ext cx="365760" cy="365760"/>
          </a:xfrm>
          <a:prstGeom prst="ellipse">
            <a:avLst/>
          </a:prstGeom>
          <a:solidFill>
            <a:srgbClr val="313840"/>
          </a:solidFill>
          <a:ln/>
        </p:spPr>
      </p:sp>
      <p:pic>
        <p:nvPicPr>
          <p:cNvPr id="21" name="Image 3" descr="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4229100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52144" y="4123944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58368" y="4562856"/>
            <a:ext cx="51357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13840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SBI Model</a:t>
            </a:r>
            <a:endParaRPr lang="en-US" sz="1500" dirty="0"/>
          </a:p>
          <a:p>
            <a:pPr marL="0" indent="0" algn="l">
              <a:lnSpc>
                <a:spcPct val="1180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B64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Situation, Behavior, Impact: separate what happened from who someone is.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196432" y="3941064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F8F2ED"/>
          </a:solidFill>
          <a:ln w="9525">
            <a:solidFill>
              <a:srgbClr val="F8F2ED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97600" y="4142232"/>
            <a:ext cx="365760" cy="365760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26" name="Image 4" descr="icons/clipboard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468" y="4229100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91376" y="4123944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WORKPLACE ASSIGNMENT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397600" y="4617720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Conduct one SBI conversation.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5547208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15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24A1D87-7A9B-8EA7-588C-0AFF97192D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914" y="6436120"/>
            <a:ext cx="1382963" cy="27728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C9AF509-B75C-B5DF-14D9-66B56A192A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2355" y="6436120"/>
            <a:ext cx="782140" cy="2488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3" name="Image 0" descr="icons/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76656"/>
            <a:ext cx="329184" cy="329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2564B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W3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26464" y="457200"/>
            <a:ext cx="10308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WEEK 3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426464" y="667512"/>
            <a:ext cx="10308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THE NO-ADVICE EXPERIMENT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426464" y="987552"/>
            <a:ext cx="10308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0788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Why employees depend too much on managers.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389888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1591056"/>
            <a:ext cx="365760" cy="365760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11" name="Image 1" descr="icons/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1677924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2144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HANDS-ON ACTIVITY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58368" y="2066544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No Advice Challenge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Participant A shares a real work problem.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Participant B can only ask questions — no suggestions, no solutions, no advice.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participants fail within 60 seconds.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96432" y="1389888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F1EEEB"/>
          </a:solidFill>
          <a:ln w="9525">
            <a:solidFill>
              <a:srgbClr val="F1EEEB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97600" y="1591056"/>
            <a:ext cx="365760" cy="365760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16" name="Image 2" descr="icons/light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468" y="1677924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91376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LEARNING MOMENT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97600" y="2066544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31384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Managers often create dependency by solving problems too quickly.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941064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EEEFEF"/>
          </a:solidFill>
          <a:ln w="9525">
            <a:solidFill>
              <a:srgbClr val="EEEFEF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4142232"/>
            <a:ext cx="365760" cy="365760"/>
          </a:xfrm>
          <a:prstGeom prst="ellipse">
            <a:avLst/>
          </a:prstGeom>
          <a:solidFill>
            <a:srgbClr val="313840"/>
          </a:solidFill>
          <a:ln/>
        </p:spPr>
      </p:sp>
      <p:pic>
        <p:nvPicPr>
          <p:cNvPr id="21" name="Image 3" descr="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4229100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52144" y="4123944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58368" y="4562856"/>
            <a:ext cx="51357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13840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GROW Model</a:t>
            </a:r>
            <a:endParaRPr lang="en-US" sz="1500" dirty="0"/>
          </a:p>
          <a:p>
            <a:pPr marL="0" indent="0" algn="l">
              <a:lnSpc>
                <a:spcPct val="1180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B64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Goal, Reality, Options, Will: ask questions, not answers, so employees own the next step.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196432" y="3941064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F8F2ED"/>
          </a:solidFill>
          <a:ln w="9525">
            <a:solidFill>
              <a:srgbClr val="F8F2ED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97600" y="4142232"/>
            <a:ext cx="365760" cy="365760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26" name="Image 4" descr="icons/clipboard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468" y="4229100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91376" y="4123944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WORKPLACE ASSIGNMENT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397600" y="4617720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Conduct 3 coaching conversations.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5547208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15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2A3E5CD-2848-FE4A-7AB4-671FB84DEC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914" y="6436120"/>
            <a:ext cx="1382963" cy="27728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D0D6A97-7266-C866-D098-929F81A746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2355" y="6436120"/>
            <a:ext cx="782140" cy="2488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3" name="Image 0" descr="icons/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76656"/>
            <a:ext cx="329184" cy="329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2564B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W4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26464" y="457200"/>
            <a:ext cx="10308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WEEK 4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426464" y="667512"/>
            <a:ext cx="10308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THE TURNAROUND WAR ROOM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426464" y="987552"/>
            <a:ext cx="10308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0788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How do you recover a low performer?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389888"/>
            <a:ext cx="5538064" cy="1581912"/>
          </a:xfrm>
          <a:prstGeom prst="roundRect">
            <a:avLst>
              <a:gd name="adj" fmla="val 5202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1591056"/>
            <a:ext cx="365760" cy="365760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11" name="Image 1" descr="icons/life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1677924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2144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HANDS-ON ACTIVITY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58368" y="2066544"/>
            <a:ext cx="5135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Underperformance War Room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Managers bring real employee cases.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Groups receive limited resources: 30 days, 2 coaching sessions, 1 feedback session.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They must build the best recovery plan.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96432" y="1389888"/>
            <a:ext cx="5538064" cy="1581912"/>
          </a:xfrm>
          <a:prstGeom prst="roundRect">
            <a:avLst>
              <a:gd name="adj" fmla="val 5202"/>
            </a:avLst>
          </a:prstGeom>
          <a:solidFill>
            <a:srgbClr val="F1EEEB"/>
          </a:solidFill>
          <a:ln w="9525">
            <a:solidFill>
              <a:srgbClr val="F1EEEB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97600" y="1591056"/>
            <a:ext cx="365760" cy="365760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16" name="Image 2" descr="icons/light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468" y="1677924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91376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LEARNING MOMENT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97600" y="2066544"/>
            <a:ext cx="5135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31384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Not every performance issue requires the same intervention.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172968"/>
            <a:ext cx="5538064" cy="1581912"/>
          </a:xfrm>
          <a:prstGeom prst="roundRect">
            <a:avLst>
              <a:gd name="adj" fmla="val 5202"/>
            </a:avLst>
          </a:prstGeom>
          <a:solidFill>
            <a:srgbClr val="EEEFEF"/>
          </a:solidFill>
          <a:ln w="9525">
            <a:solidFill>
              <a:srgbClr val="EEEFEF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3374136"/>
            <a:ext cx="365760" cy="365760"/>
          </a:xfrm>
          <a:prstGeom prst="ellipse">
            <a:avLst/>
          </a:prstGeom>
          <a:solidFill>
            <a:srgbClr val="313840"/>
          </a:solidFill>
          <a:ln/>
        </p:spPr>
      </p:sp>
      <p:pic>
        <p:nvPicPr>
          <p:cNvPr id="21" name="Image 3" descr="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3461004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52144" y="335584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58368" y="3794760"/>
            <a:ext cx="51357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13840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Skill vs Will Matrix</a:t>
            </a:r>
            <a:endParaRPr lang="en-US" sz="1500" dirty="0"/>
          </a:p>
          <a:p>
            <a:pPr marL="0" indent="0" algn="l">
              <a:lnSpc>
                <a:spcPct val="1180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B64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Plot capability against motivation to choose the right move — coach, direct, or inspire.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196432" y="3172968"/>
            <a:ext cx="5538064" cy="1581912"/>
          </a:xfrm>
          <a:prstGeom prst="roundRect">
            <a:avLst>
              <a:gd name="adj" fmla="val 5202"/>
            </a:avLst>
          </a:prstGeom>
          <a:solidFill>
            <a:srgbClr val="F8F2ED"/>
          </a:solidFill>
          <a:ln w="9525">
            <a:solidFill>
              <a:srgbClr val="F8F2ED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97600" y="3374136"/>
            <a:ext cx="365760" cy="365760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26" name="Image 4" descr="icons/clipboard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468" y="34610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91376" y="335584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WORKPLACE ASSIGNMENT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397600" y="3849624"/>
            <a:ext cx="5135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Launch a 30-day improvement sprint.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57200" y="4919472"/>
            <a:ext cx="11277295" cy="13716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8368" y="5102352"/>
            <a:ext cx="420624" cy="420624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31" name="Image 5" descr="icons/flagChecke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" y="5198364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25296" y="50840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4B3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MONTH 1 REVIEW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1225296" y="5340096"/>
            <a:ext cx="10308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 xml:space="preserve">Challenge:  </a:t>
            </a:r>
            <a:r>
              <a:rPr lang="en-US" sz="11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 a real employee turnaround story.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58368" y="5632704"/>
            <a:ext cx="108749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Progress Reviews: at the end of each month, participants present progress on their workplace project — challenges identified, actions taken, outcomes achieved, and lessons learned — reinforcing accountability, enabling peer learning, and ensuring continuous application of concepts in the workplace.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5547208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/ 15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16A6A6D-C69A-1664-3F62-A22616CC05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914" y="6436120"/>
            <a:ext cx="1382963" cy="27728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BBE0FB5-DD64-B3B0-7C1A-AE5360A6630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2355" y="6436120"/>
            <a:ext cx="782140" cy="2488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512064"/>
          </a:xfrm>
          <a:prstGeom prst="roundRect">
            <a:avLst>
              <a:gd name="adj" fmla="val 16071"/>
            </a:avLst>
          </a:prstGeom>
          <a:solidFill>
            <a:srgbClr val="F8F2ED"/>
          </a:solidFill>
          <a:ln w="9525">
            <a:solidFill>
              <a:srgbClr val="F8F2ED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85216" y="530352"/>
            <a:ext cx="365760" cy="365760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4" name="Image 0" descr="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0936"/>
            <a:ext cx="164592" cy="1645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457200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F5E27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 xml:space="preserve">MONTH 2   </a:t>
            </a:r>
            <a:r>
              <a:rPr lang="en-US" sz="13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IMPROVE TEAM PERFORMANCE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115568"/>
            <a:ext cx="768096" cy="768096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7" name="Image 1" descr="icons/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335024"/>
            <a:ext cx="329184" cy="3291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115568"/>
            <a:ext cx="768096" cy="768096"/>
          </a:xfrm>
          <a:prstGeom prst="ellipse">
            <a:avLst/>
          </a:prstGeom>
          <a:solidFill>
            <a:srgbClr val="AF5E27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111556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W5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426464" y="1115568"/>
            <a:ext cx="10308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WEEK 5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426464" y="1325880"/>
            <a:ext cx="10308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THE DATA DETECTIVE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426464" y="1645920"/>
            <a:ext cx="10308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0788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What story is your data hiding?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2048256"/>
            <a:ext cx="5538064" cy="2020824"/>
          </a:xfrm>
          <a:prstGeom prst="roundRect">
            <a:avLst>
              <a:gd name="adj" fmla="val 4072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2249424"/>
            <a:ext cx="365760" cy="365760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15" name="Image 2" descr="icons/chart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2336292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52144" y="2231136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HANDS-ON ACTIVITY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58368" y="2724912"/>
            <a:ext cx="513572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Dashboard Detective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Groups receive team scorecards — Team A: Accuracy 98%, Productivity 65%; Team B: Accuracy 90%, Productivity 115%.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Question: which team is healthier?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Teams debate before seeing additional data.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196432" y="2048256"/>
            <a:ext cx="5538064" cy="2020824"/>
          </a:xfrm>
          <a:prstGeom prst="roundRect">
            <a:avLst>
              <a:gd name="adj" fmla="val 4072"/>
            </a:avLst>
          </a:prstGeom>
          <a:solidFill>
            <a:srgbClr val="F1EEEB"/>
          </a:solidFill>
          <a:ln w="9525">
            <a:solidFill>
              <a:srgbClr val="F1EEEB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97600" y="2249424"/>
            <a:ext cx="365760" cy="365760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20" name="Image 3" descr="icons/light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4468" y="2336292"/>
            <a:ext cx="192024" cy="1920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91376" y="2231136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LEARNING MOMENT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397600" y="2724912"/>
            <a:ext cx="513572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31384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Metrics without context lead to bad decisions.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57200" y="4270248"/>
            <a:ext cx="5538064" cy="2020824"/>
          </a:xfrm>
          <a:prstGeom prst="roundRect">
            <a:avLst>
              <a:gd name="adj" fmla="val 4072"/>
            </a:avLst>
          </a:prstGeom>
          <a:solidFill>
            <a:srgbClr val="EEEFEF"/>
          </a:solidFill>
          <a:ln w="9525">
            <a:solidFill>
              <a:srgbClr val="EEEFEF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8368" y="4471416"/>
            <a:ext cx="365760" cy="365760"/>
          </a:xfrm>
          <a:prstGeom prst="ellipse">
            <a:avLst/>
          </a:prstGeom>
          <a:solidFill>
            <a:srgbClr val="313840"/>
          </a:solidFill>
          <a:ln/>
        </p:spPr>
      </p:sp>
      <p:pic>
        <p:nvPicPr>
          <p:cNvPr id="25" name="Image 4" descr="icons/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" y="4558284"/>
            <a:ext cx="192024" cy="1920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52144" y="445312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58368" y="4892040"/>
            <a:ext cx="513572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13840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Leading vs Lagging Indicators</a:t>
            </a:r>
            <a:endParaRPr lang="en-US" sz="1500" dirty="0"/>
          </a:p>
          <a:p>
            <a:pPr marL="0" indent="0" algn="l">
              <a:lnSpc>
                <a:spcPct val="1180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B64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Lagging metrics report the past; leading metrics predict what is coming next.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196432" y="4270248"/>
            <a:ext cx="5538064" cy="2020824"/>
          </a:xfrm>
          <a:prstGeom prst="roundRect">
            <a:avLst>
              <a:gd name="adj" fmla="val 4072"/>
            </a:avLst>
          </a:prstGeom>
          <a:solidFill>
            <a:srgbClr val="F8F2ED"/>
          </a:solidFill>
          <a:ln w="9525">
            <a:solidFill>
              <a:srgbClr val="F8F2ED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397600" y="4471416"/>
            <a:ext cx="365760" cy="365760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30" name="Image 5" descr="icons/clipboard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4468" y="455828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91376" y="445312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WORKPLACE ASSIGNMENT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6397600" y="4946904"/>
            <a:ext cx="513572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your team dashboard.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5547208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/ 15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1657902-E51C-9E89-B72A-4671FB34D0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914" y="6436120"/>
            <a:ext cx="1382963" cy="27728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AFC9D25-2CD8-2407-3A11-95C336E7A8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2355" y="6436120"/>
            <a:ext cx="782140" cy="2488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3" name="Image 0" descr="icons/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76656"/>
            <a:ext cx="329184" cy="329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AF5E2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W6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26464" y="457200"/>
            <a:ext cx="10308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WEEK 6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426464" y="667512"/>
            <a:ext cx="10308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THE ESCAPE ROOM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426464" y="987552"/>
            <a:ext cx="10308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0788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Finding the real problem.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389888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1591056"/>
            <a:ext cx="365760" cy="365760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11" name="Image 1" descr="icons/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1677924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2144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HANDS-ON ACTIVITY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58368" y="2066544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RCA Escape Room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Teams solve a quality crisis.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clue unlocks another clue.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answer requires asking deeper “Why?” questions.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96432" y="1389888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F1EEEB"/>
          </a:solidFill>
          <a:ln w="9525">
            <a:solidFill>
              <a:srgbClr val="F1EEEB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97600" y="1591056"/>
            <a:ext cx="365760" cy="365760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16" name="Image 2" descr="icons/light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468" y="1677924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91376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LEARNING MOMENT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97600" y="2066544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31384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Most managers stop investigating too early.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941064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EEEFEF"/>
          </a:solidFill>
          <a:ln w="9525">
            <a:solidFill>
              <a:srgbClr val="EEEFEF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4142232"/>
            <a:ext cx="365760" cy="365760"/>
          </a:xfrm>
          <a:prstGeom prst="ellipse">
            <a:avLst/>
          </a:prstGeom>
          <a:solidFill>
            <a:srgbClr val="313840"/>
          </a:solidFill>
          <a:ln/>
        </p:spPr>
      </p:sp>
      <p:pic>
        <p:nvPicPr>
          <p:cNvPr id="21" name="Image 3" descr="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4229100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52144" y="4123944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58368" y="4562856"/>
            <a:ext cx="51357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13840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5 Whys + Fishbone</a:t>
            </a:r>
            <a:endParaRPr lang="en-US" sz="1500" dirty="0"/>
          </a:p>
          <a:p>
            <a:pPr marL="0" indent="0" algn="l">
              <a:lnSpc>
                <a:spcPct val="1180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B64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Ask why five times to reach the root cause, then map every contributing factor.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196432" y="3941064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F8F2ED"/>
          </a:solidFill>
          <a:ln w="9525">
            <a:solidFill>
              <a:srgbClr val="F8F2ED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97600" y="4142232"/>
            <a:ext cx="365760" cy="365760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26" name="Image 4" descr="icons/clipboard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468" y="4229100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91376" y="4123944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WORKPLACE ASSIGNMENT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397600" y="4617720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Investigate one recurring team issue.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5547208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 / 15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3AD9597-6EB3-4018-8621-1728D2ADF3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914" y="6436120"/>
            <a:ext cx="1382963" cy="27728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0665730-81E8-8840-35A3-C0D69E6E71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2355" y="6436120"/>
            <a:ext cx="782140" cy="2488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3" name="Image 0" descr="icons/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76656"/>
            <a:ext cx="329184" cy="329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AF5E2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W7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26464" y="457200"/>
            <a:ext cx="10308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WEEK 7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426464" y="667512"/>
            <a:ext cx="10308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THE OPERATIONS GAME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426464" y="987552"/>
            <a:ext cx="10308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0788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Managing productivity under pressure.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389888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1591056"/>
            <a:ext cx="365760" cy="365760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11" name="Image 1" descr="icons/st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1677924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2144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HANDS-ON ACTIVITY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58368" y="2066544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Queue Challenge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Teams receive a coding backlog, staff shortages, QA issues, and urgent client requests.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5 minutes, new constraints appear.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Teams must decide priorities, resource allocation, and escalations.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96432" y="1389888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F1EEEB"/>
          </a:solidFill>
          <a:ln w="9525">
            <a:solidFill>
              <a:srgbClr val="F1EEEB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97600" y="1591056"/>
            <a:ext cx="365760" cy="365760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16" name="Image 2" descr="icons/light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468" y="1677924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91376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LEARNING MOMENT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97600" y="2066544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31384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Productivity problems are usually system problems.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941064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EEEFEF"/>
          </a:solidFill>
          <a:ln w="9525">
            <a:solidFill>
              <a:srgbClr val="EEEFEF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4142232"/>
            <a:ext cx="365760" cy="365760"/>
          </a:xfrm>
          <a:prstGeom prst="ellipse">
            <a:avLst/>
          </a:prstGeom>
          <a:solidFill>
            <a:srgbClr val="313840"/>
          </a:solidFill>
          <a:ln/>
        </p:spPr>
      </p:sp>
      <p:pic>
        <p:nvPicPr>
          <p:cNvPr id="21" name="Image 3" descr="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4229100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52144" y="4123944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58368" y="4562856"/>
            <a:ext cx="51357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13840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Workflow Mapping</a:t>
            </a:r>
            <a:endParaRPr lang="en-US" sz="1500" dirty="0"/>
          </a:p>
          <a:p>
            <a:pPr marL="0" indent="0" algn="l">
              <a:lnSpc>
                <a:spcPct val="1180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B64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Trace a task step by step to expose bottlenecks, handoffs, and hidden delays.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196432" y="3941064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F8F2ED"/>
          </a:solidFill>
          <a:ln w="9525">
            <a:solidFill>
              <a:srgbClr val="F8F2ED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97600" y="4142232"/>
            <a:ext cx="365760" cy="365760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26" name="Image 4" descr="icons/clipboard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468" y="4229100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91376" y="4123944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WORKPLACE ASSIGNMENT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397600" y="4617720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 actual workflow.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5547208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 / 15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20197ED-75E2-464D-A9B2-76B7AA2D62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914" y="6436120"/>
            <a:ext cx="1382963" cy="27728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55151A5-21D2-489F-D755-6DC5FCEBAE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2355" y="6436120"/>
            <a:ext cx="782140" cy="2488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3" name="Image 0" descr="icons/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76656"/>
            <a:ext cx="329184" cy="329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AF5E2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W8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26464" y="457200"/>
            <a:ext cx="10308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WEEK 8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426464" y="667512"/>
            <a:ext cx="10308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ERROR HUNTERS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426464" y="987552"/>
            <a:ext cx="10308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0788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Why do the same mistakes keep happening?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389888"/>
            <a:ext cx="5538064" cy="1920240"/>
          </a:xfrm>
          <a:prstGeom prst="roundRect">
            <a:avLst>
              <a:gd name="adj" fmla="val 4286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1591056"/>
            <a:ext cx="365760" cy="365760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11" name="Image 1" descr="icons/b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1677924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2144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HANDS-ON ACTIVITY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58368" y="2066544"/>
            <a:ext cx="513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Error Hunt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Managers receive actual QA reports.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Mission: identify top recurring errors, hidden patterns, and system failures.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96432" y="1389888"/>
            <a:ext cx="5538064" cy="1920240"/>
          </a:xfrm>
          <a:prstGeom prst="roundRect">
            <a:avLst>
              <a:gd name="adj" fmla="val 4286"/>
            </a:avLst>
          </a:prstGeom>
          <a:solidFill>
            <a:srgbClr val="F1EEEB"/>
          </a:solidFill>
          <a:ln w="9525">
            <a:solidFill>
              <a:srgbClr val="F1EEEB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97600" y="1591056"/>
            <a:ext cx="365760" cy="365760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16" name="Image 2" descr="icons/light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468" y="1677924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91376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LEARNING MOMENT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97600" y="2066544"/>
            <a:ext cx="513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31384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Most errors are predictable.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511296"/>
            <a:ext cx="5538064" cy="1920240"/>
          </a:xfrm>
          <a:prstGeom prst="roundRect">
            <a:avLst>
              <a:gd name="adj" fmla="val 4286"/>
            </a:avLst>
          </a:prstGeom>
          <a:solidFill>
            <a:srgbClr val="EEEFEF"/>
          </a:solidFill>
          <a:ln w="9525">
            <a:solidFill>
              <a:srgbClr val="EEEFEF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3712464"/>
            <a:ext cx="365760" cy="365760"/>
          </a:xfrm>
          <a:prstGeom prst="ellipse">
            <a:avLst/>
          </a:prstGeom>
          <a:solidFill>
            <a:srgbClr val="313840"/>
          </a:solidFill>
          <a:ln/>
        </p:spPr>
      </p:sp>
      <p:pic>
        <p:nvPicPr>
          <p:cNvPr id="21" name="Image 3" descr="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3799332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52144" y="3694176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58368" y="4133088"/>
            <a:ext cx="51357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13840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PDCA</a:t>
            </a:r>
            <a:endParaRPr lang="en-US" sz="1500" dirty="0"/>
          </a:p>
          <a:p>
            <a:pPr marL="0" indent="0" algn="l">
              <a:lnSpc>
                <a:spcPct val="1180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B64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Plan, Do, Check, Act — a repeatable cycle for testing a fix and standardizing what works.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196432" y="3511296"/>
            <a:ext cx="5538064" cy="1920240"/>
          </a:xfrm>
          <a:prstGeom prst="roundRect">
            <a:avLst>
              <a:gd name="adj" fmla="val 4286"/>
            </a:avLst>
          </a:prstGeom>
          <a:solidFill>
            <a:srgbClr val="F8F2ED"/>
          </a:solidFill>
          <a:ln w="9525">
            <a:solidFill>
              <a:srgbClr val="F8F2ED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97600" y="3712464"/>
            <a:ext cx="365760" cy="365760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26" name="Image 4" descr="icons/clipboard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468" y="3799332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91376" y="3694176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WORKPLACE ASSIGNMENT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397600" y="4187952"/>
            <a:ext cx="513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Redesign one review checkpoint.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57200" y="5596128"/>
            <a:ext cx="11277295" cy="694944"/>
          </a:xfrm>
          <a:prstGeom prst="roundRect">
            <a:avLst>
              <a:gd name="adj" fmla="val 11842"/>
            </a:avLst>
          </a:prstGeom>
          <a:solidFill>
            <a:srgbClr val="F8F2ED"/>
          </a:solidFill>
          <a:ln w="9525">
            <a:solidFill>
              <a:srgbClr val="F8F2ED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8368" y="5751576"/>
            <a:ext cx="384048" cy="384048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31" name="Image 5" descr="icons/flagChecke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843016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07008" y="5596128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5E27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 xml:space="preserve">MONTH 2 REVIEW   </a:t>
            </a:r>
            <a:r>
              <a:rPr lang="en-US" sz="11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 xml:space="preserve">Challenge:  </a:t>
            </a:r>
            <a:r>
              <a:rPr lang="en-US" sz="115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 a Team Performance Improvement Plan.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5547208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 / 15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EF27C53-E143-72CE-6899-424D521E9A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914" y="6436120"/>
            <a:ext cx="1382963" cy="27728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A208DB6-7427-C7C1-6490-C300077FAF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2355" y="6436120"/>
            <a:ext cx="782140" cy="2488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512064"/>
          </a:xfrm>
          <a:prstGeom prst="roundRect">
            <a:avLst>
              <a:gd name="adj" fmla="val 16071"/>
            </a:avLst>
          </a:prstGeom>
          <a:solidFill>
            <a:srgbClr val="F1EEEB"/>
          </a:solidFill>
          <a:ln w="9525">
            <a:solidFill>
              <a:srgbClr val="F1EEEB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85216" y="530352"/>
            <a:ext cx="365760" cy="365760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4" name="Image 0" descr="icons/flagCheck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0936"/>
            <a:ext cx="164592" cy="1645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457200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2C06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 xml:space="preserve">MONTH 3   </a:t>
            </a:r>
            <a:r>
              <a:rPr lang="en-US" sz="13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LEAD HIGH-PERFORMING TEAMS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768096" cy="768096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7" name="Image 1" descr="icons/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316736"/>
            <a:ext cx="329184" cy="3291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097280"/>
            <a:ext cx="768096" cy="768096"/>
          </a:xfrm>
          <a:prstGeom prst="ellipse">
            <a:avLst/>
          </a:prstGeom>
          <a:solidFill>
            <a:srgbClr val="5C2C06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10972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W9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426464" y="1097280"/>
            <a:ext cx="10308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WEEK 9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426464" y="1307592"/>
            <a:ext cx="10308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HUDDLE MASTERS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426464" y="1627632"/>
            <a:ext cx="10308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0788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Building team rhythm.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2029968"/>
            <a:ext cx="2682164" cy="13716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2231136"/>
            <a:ext cx="365760" cy="365760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15" name="Image 2" descr="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2318004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52144" y="2212848"/>
            <a:ext cx="17860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ACTIVITY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58368" y="2706624"/>
            <a:ext cx="22798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Huddle Olympics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Groups conduct 10-minute huddles.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Observers score Clarity, Energy, Participation, and Action orientation.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322244" y="2029968"/>
            <a:ext cx="2682164" cy="1371600"/>
          </a:xfrm>
          <a:prstGeom prst="roundRect">
            <a:avLst>
              <a:gd name="adj" fmla="val 6000"/>
            </a:avLst>
          </a:prstGeom>
          <a:solidFill>
            <a:srgbClr val="F1EEEB"/>
          </a:solidFill>
          <a:ln w="9525">
            <a:solidFill>
              <a:srgbClr val="F1EEEB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523412" y="2231136"/>
            <a:ext cx="365760" cy="365760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20" name="Image 3" descr="icons/light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0280" y="2318004"/>
            <a:ext cx="192024" cy="1920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017188" y="2212848"/>
            <a:ext cx="17860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LEARNING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3523412" y="2706624"/>
            <a:ext cx="22798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31384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Most meetings create activity, not alignment.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187288" y="2029968"/>
            <a:ext cx="2682164" cy="1371600"/>
          </a:xfrm>
          <a:prstGeom prst="roundRect">
            <a:avLst>
              <a:gd name="adj" fmla="val 6000"/>
            </a:avLst>
          </a:prstGeom>
          <a:solidFill>
            <a:srgbClr val="EEEFEF"/>
          </a:solidFill>
          <a:ln w="9525">
            <a:solidFill>
              <a:srgbClr val="EEEFEF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388456" y="2231136"/>
            <a:ext cx="365760" cy="365760"/>
          </a:xfrm>
          <a:prstGeom prst="ellipse">
            <a:avLst/>
          </a:prstGeom>
          <a:solidFill>
            <a:srgbClr val="313840"/>
          </a:solidFill>
          <a:ln/>
        </p:spPr>
      </p:sp>
      <p:pic>
        <p:nvPicPr>
          <p:cNvPr id="25" name="Image 4" descr="icons/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5324" y="2318004"/>
            <a:ext cx="192024" cy="1920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82232" y="2212848"/>
            <a:ext cx="17860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388456" y="2651760"/>
            <a:ext cx="22798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13840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Team Operating Rhythm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9052331" y="2029968"/>
            <a:ext cx="2682164" cy="1371600"/>
          </a:xfrm>
          <a:prstGeom prst="roundRect">
            <a:avLst>
              <a:gd name="adj" fmla="val 6000"/>
            </a:avLst>
          </a:prstGeom>
          <a:solidFill>
            <a:srgbClr val="F8F2ED"/>
          </a:solidFill>
          <a:ln w="9525">
            <a:solidFill>
              <a:srgbClr val="F8F2ED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253499" y="2231136"/>
            <a:ext cx="365760" cy="365760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30" name="Image 5" descr="icons/clipboard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0367" y="23180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747275" y="2212848"/>
            <a:ext cx="17860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ASSIGNMENT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9253499" y="2706624"/>
            <a:ext cx="22798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Launch daily huddles.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457200" y="3602736"/>
            <a:ext cx="11277295" cy="2688336"/>
          </a:xfrm>
          <a:prstGeom prst="roundRect">
            <a:avLst>
              <a:gd name="adj" fmla="val 3061"/>
            </a:avLst>
          </a:prstGeom>
          <a:solidFill>
            <a:srgbClr val="FAFAFA"/>
          </a:solidFill>
          <a:ln w="9525">
            <a:solidFill>
              <a:srgbClr val="DCDFE3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76656" y="3785616"/>
            <a:ext cx="457200" cy="457200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35" name="Image 6" descr="icons/bullsey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" y="3895344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280160" y="3749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kern="0" spc="10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 xml:space="preserve">MINI CHALLENGE   </a:t>
            </a:r>
            <a:endParaRPr lang="en-US" sz="1050" dirty="0"/>
          </a:p>
          <a:p>
            <a:pPr marL="0" indent="0">
              <a:buNone/>
            </a:pPr>
            <a:r>
              <a:rPr lang="en-US" sz="155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5-Minute Leadership Brief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457200" y="4389120"/>
            <a:ext cx="36576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 xml:space="preserve">Managers receive:  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</a:rPr>
              <a:t>Accuracy decline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</a:rPr>
              <a:t>Escalation increase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</a:rPr>
              <a:t>Productivity issue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4389120" y="4389120"/>
            <a:ext cx="36576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 xml:space="preserve">Task:  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 a 2-minute update to senior leadership.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 xml:space="preserve">Must answer:  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313840"/>
                </a:solidFill>
              </a:rPr>
              <a:t>What happened?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313840"/>
                </a:solidFill>
              </a:rPr>
              <a:t>Why?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313840"/>
                </a:solidFill>
              </a:rPr>
              <a:t>What are you doing?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313840"/>
                </a:solidFill>
              </a:rPr>
              <a:t>What support is needed?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8321040" y="4389120"/>
            <a:ext cx="3413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078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FRAMEWORK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8321040" y="4681728"/>
            <a:ext cx="3413455" cy="384048"/>
          </a:xfrm>
          <a:prstGeom prst="roundRect">
            <a:avLst>
              <a:gd name="adj" fmla="val 16667"/>
            </a:avLst>
          </a:prstGeom>
          <a:solidFill>
            <a:srgbClr val="EEEFEF"/>
          </a:solidFill>
          <a:ln/>
        </p:spPr>
      </p:sp>
      <p:sp>
        <p:nvSpPr>
          <p:cNvPr id="41" name="Text 32"/>
          <p:cNvSpPr/>
          <p:nvPr/>
        </p:nvSpPr>
        <p:spPr>
          <a:xfrm>
            <a:off x="8321040" y="4681728"/>
            <a:ext cx="3413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Situation</a:t>
            </a:r>
            <a:endParaRPr lang="en-US" sz="1050" dirty="0"/>
          </a:p>
        </p:txBody>
      </p:sp>
      <p:sp>
        <p:nvSpPr>
          <p:cNvPr id="42" name="Text 33"/>
          <p:cNvSpPr/>
          <p:nvPr/>
        </p:nvSpPr>
        <p:spPr>
          <a:xfrm>
            <a:off x="8321040" y="5029200"/>
            <a:ext cx="34134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↓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8321040" y="5193792"/>
            <a:ext cx="3413455" cy="384048"/>
          </a:xfrm>
          <a:prstGeom prst="roundRect">
            <a:avLst>
              <a:gd name="adj" fmla="val 16667"/>
            </a:avLst>
          </a:prstGeom>
          <a:solidFill>
            <a:srgbClr val="EEEFEF"/>
          </a:solidFill>
          <a:ln/>
        </p:spPr>
      </p:sp>
      <p:sp>
        <p:nvSpPr>
          <p:cNvPr id="44" name="Text 35"/>
          <p:cNvSpPr/>
          <p:nvPr/>
        </p:nvSpPr>
        <p:spPr>
          <a:xfrm>
            <a:off x="8321040" y="5193792"/>
            <a:ext cx="3413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Analysis</a:t>
            </a:r>
            <a:endParaRPr lang="en-US" sz="1050" dirty="0"/>
          </a:p>
        </p:txBody>
      </p:sp>
      <p:sp>
        <p:nvSpPr>
          <p:cNvPr id="45" name="Text 36"/>
          <p:cNvSpPr/>
          <p:nvPr/>
        </p:nvSpPr>
        <p:spPr>
          <a:xfrm>
            <a:off x="8321040" y="5541264"/>
            <a:ext cx="34134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↓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8321040" y="5705856"/>
            <a:ext cx="3413455" cy="384048"/>
          </a:xfrm>
          <a:prstGeom prst="roundRect">
            <a:avLst>
              <a:gd name="adj" fmla="val 16667"/>
            </a:avLst>
          </a:prstGeom>
          <a:solidFill>
            <a:srgbClr val="AF5E27"/>
          </a:solidFill>
          <a:ln/>
        </p:spPr>
      </p:sp>
      <p:sp>
        <p:nvSpPr>
          <p:cNvPr id="47" name="Text 38"/>
          <p:cNvSpPr/>
          <p:nvPr/>
        </p:nvSpPr>
        <p:spPr>
          <a:xfrm>
            <a:off x="8321040" y="5705856"/>
            <a:ext cx="3413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50" name="Text 39"/>
          <p:cNvSpPr/>
          <p:nvPr/>
        </p:nvSpPr>
        <p:spPr>
          <a:xfrm>
            <a:off x="5547208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/ 15</a:t>
            </a:r>
            <a:endParaRPr lang="en-US" sz="9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6225CDA-EBF0-72BD-D787-8BA979CC4F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914" y="6436120"/>
            <a:ext cx="1382963" cy="27728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02D023A-886A-3EAD-040F-219C511B21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2355" y="6436120"/>
            <a:ext cx="782140" cy="2488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3" name="Image 0" descr="icons/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76656"/>
            <a:ext cx="329184" cy="329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5C2C06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W10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26464" y="457200"/>
            <a:ext cx="10308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WEEK 10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426464" y="667512"/>
            <a:ext cx="10308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THE HOT SEAT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426464" y="987552"/>
            <a:ext cx="10308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0788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Having conversations managers avoid.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389888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1591056"/>
            <a:ext cx="365760" cy="365760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11" name="Image 1" descr="icons/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1677924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2144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HANDS-ON ACTIVITY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58368" y="2066544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Conversation Gauntlet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Participants rotate through stations: Scenario 1 — Accuracy has dropped.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Scenario 2 — Employee rejects feedback. Scenario 3 — Conflict between team members.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Scenario 4 — High performer wants to quit.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96432" y="1389888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F1EEEB"/>
          </a:solidFill>
          <a:ln w="9525">
            <a:solidFill>
              <a:srgbClr val="F1EEEB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97600" y="1591056"/>
            <a:ext cx="365760" cy="365760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16" name="Image 2" descr="icons/light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468" y="1677924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91376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LEARNING MOMENT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97600" y="2066544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31384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Confidence comes from practice, not theory.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941064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EEEFEF"/>
          </a:solidFill>
          <a:ln w="9525">
            <a:solidFill>
              <a:srgbClr val="EEEFEF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4142232"/>
            <a:ext cx="365760" cy="365760"/>
          </a:xfrm>
          <a:prstGeom prst="ellipse">
            <a:avLst/>
          </a:prstGeom>
          <a:solidFill>
            <a:srgbClr val="313840"/>
          </a:solidFill>
          <a:ln/>
        </p:spPr>
      </p:sp>
      <p:pic>
        <p:nvPicPr>
          <p:cNvPr id="21" name="Image 3" descr="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4229100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52144" y="4123944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58368" y="4562856"/>
            <a:ext cx="51357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13840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DESC</a:t>
            </a:r>
            <a:endParaRPr lang="en-US" sz="1500" dirty="0"/>
          </a:p>
          <a:p>
            <a:pPr marL="0" indent="0" algn="l">
              <a:lnSpc>
                <a:spcPct val="1180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B64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Describe, Express, Specify, Consequences — raise a hard issue without starting a conflict.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196432" y="3941064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F8F2ED"/>
          </a:solidFill>
          <a:ln w="9525">
            <a:solidFill>
              <a:srgbClr val="F8F2ED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97600" y="4142232"/>
            <a:ext cx="365760" cy="365760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26" name="Image 4" descr="icons/clipboard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468" y="4229100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91376" y="4123944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WORKPLACE ASSIGNMENT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397600" y="4617720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Conduct one difficult conversation.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5547208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/ 15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9C1EDCD-2FA2-F03D-53FE-9D0E31B233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914" y="6436120"/>
            <a:ext cx="1382963" cy="27728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88C5EE2-4746-CD71-F94D-66DB23CFD8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2355" y="6436120"/>
            <a:ext cx="782140" cy="2488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3" name="Image 0" descr="icons/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76656"/>
            <a:ext cx="329184" cy="329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5C2C06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W11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26464" y="457200"/>
            <a:ext cx="10308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WEEK 11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426464" y="667512"/>
            <a:ext cx="10308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ESCALATION DETOX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426464" y="987552"/>
            <a:ext cx="10308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0788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Building ownership.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389888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1591056"/>
            <a:ext cx="365760" cy="365760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11" name="Image 1" descr="icons/gav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1677924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2144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HANDS-ON ACTIVITY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58368" y="2066544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Escalation Auction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Groups receive 30 real workplace situations.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They classify each as: Employee should solve, Team Lead should solve, Manager should solve, or Requires escalation.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96432" y="1389888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F1EEEB"/>
          </a:solidFill>
          <a:ln w="9525">
            <a:solidFill>
              <a:srgbClr val="F1EEEB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97600" y="1591056"/>
            <a:ext cx="365760" cy="365760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16" name="Image 2" descr="icons/light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468" y="1677924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91376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LEARNING MOMENT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97600" y="2066544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31384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Many escalations happen because ownership is unclear.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941064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EEEFEF"/>
          </a:solidFill>
          <a:ln w="9525">
            <a:solidFill>
              <a:srgbClr val="EEEFEF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4142232"/>
            <a:ext cx="365760" cy="365760"/>
          </a:xfrm>
          <a:prstGeom prst="ellipse">
            <a:avLst/>
          </a:prstGeom>
          <a:solidFill>
            <a:srgbClr val="313840"/>
          </a:solidFill>
          <a:ln/>
        </p:spPr>
      </p:sp>
      <p:pic>
        <p:nvPicPr>
          <p:cNvPr id="21" name="Image 3" descr="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4229100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52144" y="4123944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58368" y="4562856"/>
            <a:ext cx="51357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13840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Ownership Ladder</a:t>
            </a:r>
            <a:endParaRPr lang="en-US" sz="1500" dirty="0"/>
          </a:p>
          <a:p>
            <a:pPr marL="0" indent="0" algn="l">
              <a:lnSpc>
                <a:spcPct val="1180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B64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scale from needing instructions to owning outcomes — the goal of every delegation.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196432" y="3941064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F8F2ED"/>
          </a:solidFill>
          <a:ln w="9525">
            <a:solidFill>
              <a:srgbClr val="F8F2ED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97600" y="4142232"/>
            <a:ext cx="365760" cy="365760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26" name="Image 4" descr="icons/clipboard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468" y="4229100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91376" y="4123944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WORKPLACE ASSIGNMENT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397600" y="4617720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 escalations for 7 days.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5547208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/ 15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7397B37-AC08-68EE-3218-B21D01B9E9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914" y="6436120"/>
            <a:ext cx="1382963" cy="27728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C459A71-13C9-5366-1D85-461F286ADD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2355" y="6436120"/>
            <a:ext cx="782140" cy="2488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3" name="Image 0" descr="icons/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76656"/>
            <a:ext cx="329184" cy="329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57200"/>
            <a:ext cx="768096" cy="768096"/>
          </a:xfrm>
          <a:prstGeom prst="ellipse">
            <a:avLst/>
          </a:prstGeom>
          <a:solidFill>
            <a:srgbClr val="5C2C06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W12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26464" y="457200"/>
            <a:ext cx="10308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WEEK 12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426464" y="667512"/>
            <a:ext cx="10308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FROM INSIGHT TO IMPACT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426464" y="987552"/>
            <a:ext cx="10308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0788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Demonstrating impact.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389888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1591056"/>
            <a:ext cx="365760" cy="365760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11" name="Image 1" descr="icons/trop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1677924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2144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HANDS-ON ACTIVITY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58368" y="2066544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Leadership Exhibition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PowerPoints allowed — managers build physical or digital exhibition boards.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Board sections: Challenge, Diagnosis, Actions, Results, System Created, Sustainability Plan.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Leaders walk around like judges at an innovation fair.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96432" y="1389888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F1EEEB"/>
          </a:solidFill>
          <a:ln w="9525">
            <a:solidFill>
              <a:srgbClr val="F1EEEB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97600" y="1591056"/>
            <a:ext cx="365760" cy="365760"/>
          </a:xfrm>
          <a:prstGeom prst="ellipse">
            <a:avLst/>
          </a:prstGeom>
          <a:solidFill>
            <a:srgbClr val="5C2C06"/>
          </a:solidFill>
          <a:ln/>
        </p:spPr>
      </p:sp>
      <p:pic>
        <p:nvPicPr>
          <p:cNvPr id="16" name="Image 2" descr="icons/light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468" y="1677924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91376" y="157276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5C2C0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LEARNING MOMENT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97600" y="2066544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31384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Leadership is measured through outcomes.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941064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EEEFEF"/>
          </a:solidFill>
          <a:ln w="9525">
            <a:solidFill>
              <a:srgbClr val="EEEFEF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4142232"/>
            <a:ext cx="365760" cy="365760"/>
          </a:xfrm>
          <a:prstGeom prst="ellipse">
            <a:avLst/>
          </a:prstGeom>
          <a:solidFill>
            <a:srgbClr val="313840"/>
          </a:solidFill>
          <a:ln/>
        </p:spPr>
      </p:sp>
      <p:pic>
        <p:nvPicPr>
          <p:cNvPr id="21" name="Image 3" descr="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4229100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52144" y="4123944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31384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58368" y="4562856"/>
            <a:ext cx="51357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13840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IMPACT Storytelling</a:t>
            </a:r>
            <a:endParaRPr lang="en-US" sz="1500" dirty="0"/>
          </a:p>
          <a:p>
            <a:pPr marL="0" indent="0" algn="l">
              <a:lnSpc>
                <a:spcPct val="1180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B64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narrative for outcomes: situation, action taken, result achieved, and next step.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196432" y="3941064"/>
            <a:ext cx="5538064" cy="2350008"/>
          </a:xfrm>
          <a:prstGeom prst="roundRect">
            <a:avLst>
              <a:gd name="adj" fmla="val 3502"/>
            </a:avLst>
          </a:prstGeom>
          <a:solidFill>
            <a:srgbClr val="F8F2ED"/>
          </a:solidFill>
          <a:ln w="9525">
            <a:solidFill>
              <a:srgbClr val="F8F2ED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97600" y="4142232"/>
            <a:ext cx="365760" cy="365760"/>
          </a:xfrm>
          <a:prstGeom prst="ellipse">
            <a:avLst/>
          </a:prstGeom>
          <a:solidFill>
            <a:srgbClr val="AF5E27"/>
          </a:solidFill>
          <a:ln/>
        </p:spPr>
      </p:sp>
      <p:pic>
        <p:nvPicPr>
          <p:cNvPr id="26" name="Image 4" descr="icons/clipboard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468" y="4229100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91376" y="4123944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AF5E27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WORKPLACE ASSIGNMENT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397600" y="4617720"/>
            <a:ext cx="51357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 final project.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5547208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 / 15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C343856-F1F3-AB39-635F-F6626E956C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914" y="6436120"/>
            <a:ext cx="1382963" cy="27728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89E744D-81C1-BA7C-A6D7-D19B8AC806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2355" y="6436120"/>
            <a:ext cx="782140" cy="2488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313840"/>
                </a:solidFill>
                <a:latin typeface="Capriola" pitchFamily="34" charset="0"/>
                <a:ea typeface="Capriola" pitchFamily="34" charset="-122"/>
                <a:cs typeface="Capriola" pitchFamily="34" charset="-120"/>
              </a:rPr>
              <a:t>FINAL PROJECT OPTIONS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788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Participants choose one: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3480943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1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nrope SemiBold" pitchFamily="34" charset="0"/>
                          <a:ea typeface="Manrope SemiBold" pitchFamily="34" charset="-122"/>
                          <a:cs typeface="Manrope SemiBold" pitchFamily="34" charset="-120"/>
                        </a:rPr>
                        <a:t>PROJECT OPTION</a:t>
                      </a:r>
                      <a:endParaRPr lang="en-US" sz="1050" dirty="0">
                        <a:latin typeface="Manrope SemiBold" charset="0"/>
                        <a:ea typeface="Manrope SemiBold" charset="0"/>
                        <a:cs typeface="Manrope SemiBold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nrope SemiBold" pitchFamily="34" charset="0"/>
                          <a:ea typeface="Manrope SemiBold" pitchFamily="34" charset="-122"/>
                          <a:cs typeface="Manrope SemiBold" pitchFamily="34" charset="-120"/>
                        </a:rPr>
                        <a:t>DESCRIPTION</a:t>
                      </a:r>
                      <a:endParaRPr lang="en-US" sz="1050" dirty="0">
                        <a:latin typeface="Manrope SemiBold" charset="0"/>
                        <a:ea typeface="Manrope SemiBold" charset="0"/>
                        <a:cs typeface="Manrope SemiBold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13840"/>
                          </a:solidFill>
                          <a:latin typeface="Manrope SemiBold" pitchFamily="34" charset="0"/>
                          <a:ea typeface="Manrope SemiBold" pitchFamily="34" charset="-122"/>
                          <a:cs typeface="Manrope SemiBold" pitchFamily="34" charset="-120"/>
                        </a:rPr>
                        <a:t>Improve a Low Performer</a:t>
                      </a:r>
                      <a:endParaRPr lang="en-US" sz="1000" dirty="0">
                        <a:latin typeface="Manrope SemiBold" charset="0"/>
                        <a:ea typeface="Manrope SemiBold" charset="0"/>
                        <a:cs typeface="Manrope SemiBold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r>
                        <a:rPr lang="en-US" sz="930" dirty="0">
                          <a:solidFill>
                            <a:srgbClr val="40495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Select one employee whose performance is below expectations and create a structured improvement journey. Diagnose root causes, conduct coaching and feedback conversations, implement a performance improvement plan, and demonstrate measurable progress in productivity, quality, ownership, or consistency.</a:t>
                      </a:r>
                      <a:endParaRPr lang="en-US" sz="93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13840"/>
                          </a:solidFill>
                          <a:latin typeface="Manrope SemiBold" pitchFamily="34" charset="0"/>
                          <a:ea typeface="Manrope SemiBold" pitchFamily="34" charset="-122"/>
                          <a:cs typeface="Manrope SemiBold" pitchFamily="34" charset="-120"/>
                        </a:rPr>
                        <a:t>Reduce Repeat Coding Errors</a:t>
                      </a:r>
                      <a:endParaRPr lang="en-US" sz="1000" dirty="0">
                        <a:latin typeface="Manrope SemiBold" charset="0"/>
                        <a:ea typeface="Manrope SemiBold" charset="0"/>
                        <a:cs typeface="Manrope SemiBold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r>
                        <a:rPr lang="en-US" sz="930" dirty="0">
                          <a:solidFill>
                            <a:srgbClr val="40495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Identify a recurring coding or quality issue and investigate why it continues to occur. Analyze error trends, identify root causes, implement preventive interventions, and demonstrate a reduction in repeat errors, rework, or quality escalations.</a:t>
                      </a:r>
                      <a:endParaRPr lang="en-US" sz="93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13840"/>
                          </a:solidFill>
                          <a:latin typeface="Manrope SemiBold" pitchFamily="34" charset="0"/>
                          <a:ea typeface="Manrope SemiBold" pitchFamily="34" charset="-122"/>
                          <a:cs typeface="Manrope SemiBold" pitchFamily="34" charset="-120"/>
                        </a:rPr>
                        <a:t>Reduce Escalations</a:t>
                      </a:r>
                      <a:endParaRPr lang="en-US" sz="1000" dirty="0">
                        <a:latin typeface="Manrope SemiBold" charset="0"/>
                        <a:ea typeface="Manrope SemiBold" charset="0"/>
                        <a:cs typeface="Manrope SemiBold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r>
                        <a:rPr lang="en-US" sz="930" dirty="0">
                          <a:solidFill>
                            <a:srgbClr val="40495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Analyze the most common reasons for escalations within the team and identify opportunities to improve ownership and decision-making. Implement interventions that enable employees to solve problems independently and demonstrate a reduction in avoidable escalations.</a:t>
                      </a:r>
                      <a:endParaRPr lang="en-US" sz="93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13840"/>
                          </a:solidFill>
                          <a:latin typeface="Manrope SemiBold" pitchFamily="34" charset="0"/>
                          <a:ea typeface="Manrope SemiBold" pitchFamily="34" charset="-122"/>
                          <a:cs typeface="Manrope SemiBold" pitchFamily="34" charset="-120"/>
                        </a:rPr>
                        <a:t>Improve Team Engagement</a:t>
                      </a:r>
                      <a:endParaRPr lang="en-US" sz="1000" dirty="0">
                        <a:latin typeface="Manrope SemiBold" charset="0"/>
                        <a:ea typeface="Manrope SemiBold" charset="0"/>
                        <a:cs typeface="Manrope SemiBold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r>
                        <a:rPr lang="en-US" sz="930" dirty="0">
                          <a:solidFill>
                            <a:srgbClr val="40495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Identify a challenge affecting participation, motivation, collaboration, or morale. Design and implement initiatives that improve communication, recognition, involvement, or development opportunities and demonstrate observable improvements in engagement.</a:t>
                      </a:r>
                      <a:endParaRPr lang="en-US" sz="93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13840"/>
                          </a:solidFill>
                          <a:latin typeface="Manrope SemiBold" pitchFamily="34" charset="0"/>
                          <a:ea typeface="Manrope SemiBold" pitchFamily="34" charset="-122"/>
                          <a:cs typeface="Manrope SemiBold" pitchFamily="34" charset="-120"/>
                        </a:rPr>
                        <a:t>Build a High-Performance Team Operating System</a:t>
                      </a:r>
                      <a:endParaRPr lang="en-US" sz="1000" dirty="0">
                        <a:latin typeface="Manrope SemiBold" charset="0"/>
                        <a:ea typeface="Manrope SemiBold" charset="0"/>
                        <a:cs typeface="Manrope SemiBold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r>
                        <a:rPr lang="en-US" sz="930" dirty="0">
                          <a:solidFill>
                            <a:srgbClr val="40495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Design and implement a structured management approach that improves team performance, including performance tracking, coaching practices, review mechanisms, communication rhythms, and accountability structures for consistent, sustainable performance.</a:t>
                      </a:r>
                      <a:endParaRPr lang="en-US" sz="93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13840"/>
                          </a:solidFill>
                          <a:latin typeface="Manrope SemiBold" pitchFamily="34" charset="0"/>
                          <a:ea typeface="Manrope SemiBold" pitchFamily="34" charset="-122"/>
                          <a:cs typeface="Manrope SemiBold" pitchFamily="34" charset="-120"/>
                        </a:rPr>
                        <a:t>Create a Cadence System</a:t>
                      </a:r>
                      <a:endParaRPr lang="en-US" sz="1000" dirty="0">
                        <a:latin typeface="Manrope SemiBold" charset="0"/>
                        <a:ea typeface="Manrope SemiBold" charset="0"/>
                        <a:cs typeface="Manrope SemiBold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r>
                        <a:rPr lang="en-US" sz="930" dirty="0">
                          <a:solidFill>
                            <a:srgbClr val="40495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Design and implement a management cadence that creates visibility, accountability, and alignment — daily huddles, weekly reviews, coaching check-ins, performance discussions, escalation reviews, and recognition practices. Demonstrate how the cadence improved team effectiveness.</a:t>
                      </a:r>
                      <a:endParaRPr lang="en-US" sz="93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285232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2564B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MEASUREMENT &amp; IMPACT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5559552"/>
            <a:ext cx="2668448" cy="512064"/>
          </a:xfrm>
          <a:prstGeom prst="roundRect">
            <a:avLst>
              <a:gd name="adj" fmla="val 16071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" y="5669280"/>
            <a:ext cx="292608" cy="292608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8" name="Image 0" descr="icons/calendar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5737860"/>
            <a:ext cx="155448" cy="1554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9264" y="5596128"/>
            <a:ext cx="202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4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Capability assessments at program start and end</a:t>
            </a:r>
            <a:endParaRPr lang="en-US" sz="840" dirty="0"/>
          </a:p>
        </p:txBody>
      </p:sp>
      <p:sp>
        <p:nvSpPr>
          <p:cNvPr id="10" name="Shape 6"/>
          <p:cNvSpPr/>
          <p:nvPr/>
        </p:nvSpPr>
        <p:spPr>
          <a:xfrm>
            <a:off x="3326816" y="5559552"/>
            <a:ext cx="2668448" cy="512064"/>
          </a:xfrm>
          <a:prstGeom prst="roundRect">
            <a:avLst>
              <a:gd name="adj" fmla="val 16071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54832" y="5669280"/>
            <a:ext cx="292608" cy="292608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12" name="Image 1" descr="icons/tas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412" y="5737860"/>
            <a:ext cx="155448" cy="155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38880" y="5596128"/>
            <a:ext cx="202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4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Workplace assignments &amp; project milestones</a:t>
            </a:r>
            <a:endParaRPr lang="en-US" sz="840" dirty="0"/>
          </a:p>
        </p:txBody>
      </p:sp>
      <p:sp>
        <p:nvSpPr>
          <p:cNvPr id="14" name="Shape 9"/>
          <p:cNvSpPr/>
          <p:nvPr/>
        </p:nvSpPr>
        <p:spPr>
          <a:xfrm>
            <a:off x="6196432" y="5559552"/>
            <a:ext cx="2668448" cy="512064"/>
          </a:xfrm>
          <a:prstGeom prst="roundRect">
            <a:avLst>
              <a:gd name="adj" fmla="val 16071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324448" y="5669280"/>
            <a:ext cx="292608" cy="292608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4" name="Image 2" descr="icons/clipboard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028" y="5737860"/>
            <a:ext cx="155448" cy="1554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08496" y="5596128"/>
            <a:ext cx="202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4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Monthly project reviews</a:t>
            </a:r>
            <a:endParaRPr lang="en-US" sz="840" dirty="0"/>
          </a:p>
        </p:txBody>
      </p:sp>
      <p:sp>
        <p:nvSpPr>
          <p:cNvPr id="18" name="Shape 12"/>
          <p:cNvSpPr/>
          <p:nvPr/>
        </p:nvSpPr>
        <p:spPr>
          <a:xfrm>
            <a:off x="9066047" y="5559552"/>
            <a:ext cx="2668448" cy="512064"/>
          </a:xfrm>
          <a:prstGeom prst="roundRect">
            <a:avLst>
              <a:gd name="adj" fmla="val 16071"/>
            </a:avLst>
          </a:prstGeom>
          <a:solidFill>
            <a:srgbClr val="EDF2F8"/>
          </a:solidFill>
          <a:ln w="9525">
            <a:solidFill>
              <a:srgbClr val="EDF2F8"/>
            </a:solidFill>
            <a:prstDash val="solid"/>
          </a:ln>
          <a:effectLst>
            <a:outerShdw blurRad="114300" dist="25400" dir="5400000" algn="bl" rotWithShape="0">
              <a:srgbClr val="1A1F26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194063" y="5669280"/>
            <a:ext cx="292608" cy="292608"/>
          </a:xfrm>
          <a:prstGeom prst="ellipse">
            <a:avLst/>
          </a:prstGeom>
          <a:solidFill>
            <a:srgbClr val="2564B3"/>
          </a:solidFill>
          <a:ln/>
        </p:spPr>
      </p:sp>
      <p:pic>
        <p:nvPicPr>
          <p:cNvPr id="20" name="Image 3" descr="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2643" y="5737860"/>
            <a:ext cx="155448" cy="1554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578111" y="5596128"/>
            <a:ext cx="202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40" dirty="0">
                <a:solidFill>
                  <a:srgbClr val="3138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Productivity, quality, escalations, ownership &amp; team-effectiveness indicators</a:t>
            </a:r>
            <a:endParaRPr lang="en-US" sz="840" dirty="0"/>
          </a:p>
        </p:txBody>
      </p:sp>
      <p:sp>
        <p:nvSpPr>
          <p:cNvPr id="22" name="Text 15"/>
          <p:cNvSpPr/>
          <p:nvPr/>
        </p:nvSpPr>
        <p:spPr>
          <a:xfrm>
            <a:off x="457200" y="6163056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788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Each participant receives an individual progress summary highlighting capability growth, project outcomes, and key development areas.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5547208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 / 15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AF3C0EA-43D1-5F1E-F410-53CE143D88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914" y="6436120"/>
            <a:ext cx="1382963" cy="2772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0EF2F9B-EDB0-5CD1-6A28-8708022315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2355" y="6436120"/>
            <a:ext cx="782140" cy="2488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1474</Words>
  <Application>Microsoft Office PowerPoint</Application>
  <PresentationFormat>Widescreen</PresentationFormat>
  <Paragraphs>278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Capriola</vt:lpstr>
      <vt:lpstr>Manrope</vt:lpstr>
      <vt:lpstr>Manrope ExtraBold</vt:lpstr>
      <vt:lpstr>Manrope Medium</vt:lpstr>
      <vt:lpstr>Manrope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Champion Lab — From Team Lead to Performance Leader</dc:title>
  <dc:subject>PptxGenJS Presentation</dc:subject>
  <dc:creator>Champion Lab</dc:creator>
  <cp:lastModifiedBy>vaishali baskaran</cp:lastModifiedBy>
  <cp:revision>2</cp:revision>
  <dcterms:created xsi:type="dcterms:W3CDTF">2026-06-17T06:25:21Z</dcterms:created>
  <dcterms:modified xsi:type="dcterms:W3CDTF">2026-06-17T06:39:16Z</dcterms:modified>
</cp:coreProperties>
</file>